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序" id="{A7A1F59C-9816-3E5E-8DDE-007C543B9B94}">
          <p14:sldIdLst>
            <p14:sldId id="256"/>
            <p14:sldId id="257"/>
            <p14:sldId id="258"/>
          </p14:sldIdLst>
        </p14:section>
        <p14:section name="1. 知識欲の概念化" id="{4E7358AB-29E5-217E-C925-39F46D63DC5B}">
          <p14:sldIdLst>
            <p14:sldId id="259"/>
            <p14:sldId id="260"/>
            <p14:sldId id="261"/>
            <p14:sldId id="262"/>
          </p14:sldIdLst>
        </p14:section>
        <p14:section name="2. ローカル LLM の構築" id="{33BA6F0E-0371-0265-3E45-597C30562892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3. 好奇心駆動型学習の準備" id="{87B3A39A-5249-699A-FA41-0FDDFC125537}">
          <p14:sldIdLst>
            <p14:sldId id="270"/>
            <p14:sldId id="271"/>
            <p14:sldId id="272"/>
            <p14:sldId id="273"/>
          </p14:sldIdLst>
        </p14:section>
        <p14:section name="4. まとめ" id="{2B6A49B4-30CA-4A63-21C8-65EACCADD6F2}">
          <p14:sldIdLst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411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188720"/>
            <a:ext cx="76809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292608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ローカル LLM と好奇心駆動型学習｜情報システム専門ユニット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18872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ローカル LLM と好奇心駆動型学習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29260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情報システム専門ユニット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学籍番号 2424026　足立 遥大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目次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1. 知識欲の概念化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2. ローカル LLM の構築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3. 好奇心駆動型学習の準備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4. まとめと今後の課題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参考文献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実装・手順の詳細は GitHub リポジトリ（yoyo0612/unit）を参照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研究の目的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目的 1　知識欲の概念を分解し、その構成要素を整理する。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目的 2　自宅 PC で動作するローカル LLM の構成と最適化を明らかにする。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目的 3　好奇心（予測誤差）を内発的報酬とする強化学習の実験環境を準備する。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以上の 3 つを、「予測誤差に基づく好奇心」を共通の軸として位置づける。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知識欲の概念化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第 1 部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知識欲を構成する 7 つの要素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表 1　知識欲を構成する 7 要素（文献整理に基づく）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29260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番号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要素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内容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新規性探索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未知の刺激に惹かれ、それを確かめようとする傾向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予測誤差の解消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予測と現実のズレを埋め、理解を一致させる働き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情報獲得の動機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新しい情報で内部モデルを改善しようとする欲求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理解の統合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得た情報を既存の知識体系に組み込む過程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自己効力感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理解できる自分でありたいという有能感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探索行動の快感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探索そのものが報酬となり行動を継続させる性質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意味づけ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学んだ内容に価値を見出し、自己と結びつける働き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出典：Lisman &amp; Grace (2005); Schultz (1997); Loewenstein (1994); van Kesteren et al. (2012); Deci &amp; Ryan (1985); Kang et al. (2009); Buckner &amp; Carroll (2007) を参照して整理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『</a:t>
            </a:r>
            <a:r>
              <a:rPr lang="en-US" sz="2600" dirty="0" err="1">
                <a:solidFill>
                  <a:schemeClr val="tx2"/>
                </a:solidFill>
              </a:rPr>
              <a:t>欲望解剖</a:t>
            </a:r>
            <a:r>
              <a:rPr lang="en-US" sz="2600" dirty="0">
                <a:solidFill>
                  <a:schemeClr val="tx2"/>
                </a:solidFill>
              </a:rPr>
              <a:t>』</a:t>
            </a:r>
            <a:r>
              <a:rPr lang="ja-JP" altLang="en-US" dirty="0">
                <a:latin typeface="+mn-lt"/>
              </a:rPr>
              <a:t>による</a:t>
            </a:r>
            <a:r>
              <a:rPr lang="en-US" sz="2600" dirty="0" err="1">
                <a:solidFill>
                  <a:schemeClr val="tx2"/>
                </a:solidFill>
                <a:latin typeface="+mn-lt"/>
              </a:rPr>
              <a:t>クオリアに関する検討</a:t>
            </a:r>
            <a:endParaRPr lang="en-US" sz="2600" dirty="0">
              <a:latin typeface="+mn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86200" cy="3017520"/>
          </a:xfrm>
          <a:prstGeom prst="rect">
            <a:avLst/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快楽からアディクションへ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・ドーパミンの生成が快楽体験を生む（pp. 28–29）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・快楽の再現を求める神経回路が強化される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・AI の強化学習と類似し、学習行動の継続性に対応すると考えられる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280160"/>
            <a:ext cx="3886200" cy="3017520"/>
          </a:xfrm>
          <a:prstGeom prst="rect">
            <a:avLst/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4892040" y="1417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クオリア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2024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・「グッとくる」など数値化できない感覚（pp. 22–23）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・個人の価値観に基づく消費行動の源泉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・脳内での処理機構は未解明で、7 要素を支える基盤の可能性がある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出典：茂木・田中 (2013)『欲望解剖』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課題と暫定的結論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86200" cy="3017520"/>
          </a:xfrm>
          <a:prstGeom prst="rect">
            <a:avLst/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課題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・参照文献の内容理解が十分ではない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・各文献を整理する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・7 項目との対応関係を明確にする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280160"/>
            <a:ext cx="3886200" cy="3017520"/>
          </a:xfrm>
          <a:prstGeom prst="rect">
            <a:avLst/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4892040" y="1417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暫定的結論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2024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知識欲の 7 要素を AI に実装することは、自立的に学習する AI の開発に不可欠であると考えられる。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ローカル LLM の構築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第 2 部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実行環境の構成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表 2　実行環境の構成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項目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構成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AMD Ryzen 9 5950X（16 コア / 32 スレッド）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GPU / VRAM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NVIDIA RTX 3070 Ti / 8GB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システム RAM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96GB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推論エンジン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llama.cpp b11675（CUDA 12.4 版）の llama-server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モデル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Qwen3.6-35B-A3B（Unsloth 配布、UD-Q4_K_M、約 20.6GB）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API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OpenAI 互換 API（ローカル、ポート 8080、API キー不要）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作業の記録・起動手順は GitHub リポジトリを参照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推論エンジンの選定基準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表 3　推論エンジンの比較と選定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候補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想定用途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選定の判断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Ollama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API を使うスクリプト・エージェント開発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不採用。MoE と KV キャッシュの配分を細かく指定しにくい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LM Studio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GUI でモデルを試す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不採用。GUI 中心のため、起動条件を記録しにくい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llama.cpp（llama-server）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フラグを細かく調整し、最新機能を早く使う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採用。--n-cpu-moe と KV 量子化による調整、OpenAI 互換 API を両立できる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選定の軸：(1) 8GB の VRAM に対する細かな配分調整、(2) API による連携、(3) 起動条件を記録できること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モデルと量子化の選定基準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表 4　採用したモデル・量子化・起動設定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項目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採用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理由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量子化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Q4_K_M（UD 版）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品質と容量のバランス。Q3 系は品質低下が大きく、Q5 以上は生成速度（メモリ帯域）を落とすため見送り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モデル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Qwen3.6-35B-A3B（MoE、約 20.6GB）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有効パラメータは約 3B。RAM 96GB に収まり、CPU 側に置いても生成速度が実用域に残る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起動設定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--n-cpu-moe 40、-c 131072、KV q8_0、-t 12、-ub 2048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全 expert を CPU に置き、VRAM の余裕を文脈長に回す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バッチサイズと expert 配置の計測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表 5　--n-cpu-moe（-ncmoe）と -ub の組み合わせによる速度と VRAM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-ncmoe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-ub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pp（tok/s）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tg（tok/s）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VRAM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備考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512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21.9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7.94GB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当初設定。VRAM が溢れて遅い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2048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673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28.0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7.75GB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余裕 0.4GB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2048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659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27.6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7.28GB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速度優先の採用候補（余裕 約 0.9GB）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1024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501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26.8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6.59GB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pp：プロンプト処理速度、tg：生成速度。約 4,800 トークンのプロンプトと 256 トークンの生成で 1 回計測。-ncmoe 29 以下では VRAM が溢れ、生成が 19 tok/s 程度まで低下した。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文脈長と KV キャッシュの量子化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表 6　全 expert を CPU に置いた場合の文脈長と KV キャッシュ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構成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-c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KV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tg（tok/s）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VRAM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速度優先（-ncmoe 33）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16,384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f16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27.6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7.28GB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全 expert を CPU（-ncmoe 40）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16,384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f16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23.4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3.91GB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全 expert を CPU・f16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131,072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f16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23.4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6.65GB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採用：全 expert を CPU・q8_0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131,072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q8_0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23.0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5.43GB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最大：全 expert を CPU・q8_0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262,144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q8_0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23.0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7.50GB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長文の検証（文中に埋め込んだ合言葉の想起）：約 10 万トークンでは正しく回答。262,144 設定では約 20 万トークン（200,566）の前半・後半に埋め込んだ 2 つの合言葉を正しく回答（プロンプト処理 710 tok/s、生成 18.8 tok/s、VRAM 7.54GB）。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主要な用語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表 7　本研究で用いる主要な用語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用語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意味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GGUF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llama.cpp が読み込むモデルの保存形式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量子化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重みを低ビット表現に変換し、サイズと VRAM 使用量を減らす手法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複数の expert のうち一部だけを使用する構造（A3B は有効パラメータ約 3B）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--n-cpu-moe 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先頭 N 層の expert を CPU に配置するオプション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KV キャッシュ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文脈を保持するメモリで、文脈長に応じて増加する。q8_0 で圧縮できる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Flash Attention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注意機構の計算を高速化・省メモリ化する手法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好奇心駆動型学習の準備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第 3 部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研究計画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表 8　学習の段階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段階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内容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 環境の把握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MiniGrid 上でランダム行動の挙動を観察する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 ベースライン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外部報酬のみで PPO を学習し、学習曲線を記録する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 好奇心の追加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ICM または RND を実装する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 評価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探索した状態数、到達率、学習の安定性を比較する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 記録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TensorBoard により可視化する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実験環境：Gymnasium、MiniGrid、PyTorch（CUDA 版）。依存関係は requirements-curiosity.txt で管理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好奇心に基づく内発的報酬の 2 手法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表 9　ICM と RND の比較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手法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報酬の定義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特徴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ICM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(Pathak et al., 2017)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順モデルの予測誤差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予測しにくい状態を新しいと見なす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RND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(Burda et al., 2018)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固定したランダムネットワークを別のネットワークが近似する際の誤差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実装が比較的容易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論文の内容・番号は実装前に原文で確認する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知識欲の要素と 2 手法の対応（仮説）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表 10　知識欲の要素と内発的報酬の対応（仮説）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知識欲の要素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対応する考え方（仮説）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予測誤差の解消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ICM：予測誤差そのものを報酬とする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新規性探索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ICM・RND：未知の状態ほど報酬が大きくなる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探索行動の快感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内発的報酬によって探索行動を持続させる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情報獲得の動機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未知の状態の探索によって内部モデルを改善する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知識欲の要素と内発的報酬の手法を結びつけた作業仮説であり、実験による検証は行っていない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まとめと今後の課題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第 4 部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進捗と検証状況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表 11　現時点の進捗と検証状況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項目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状態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ローカル LLM の構成と最適化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完了（この PC で計測）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長文での想起（約 20 万トークン）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確認済み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対話・家電（東芝製エアコン）の操作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動作確認済み（作者による）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好奇心学習の依存関係と確認スクリプト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作成済み。未実行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ICM / RND の実装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未着手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参照文献の内容整理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途中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今後の課題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1. 好奇心学習の環境で動作確認を行う（check_env.py）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2. ICM / RND を実装し、PPO ベースラインと比較する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3. 別モデルや Q5 以上の量子化との比較を行う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4. Thinking 出力（reasoning_content）の制御方法を検証する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5. 参照文献の内容を整理し、知識欲の 7 要素との対応を明確にする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6. LLM を Google Home に組み込み、対話ユニットとして検討する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参考文献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Burda et al. (2018). Exploration by Random Network Distillation. arXiv:1810.12894.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Pathak et al. (2017). Curiosity-driven Exploration by Self-supervised Prediction. arXiv:1705.05363.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unsloth/Qwen3.6-35B-A3B-GGUF. Hugging Face.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茂木・田中 (2013)『欲望解剖』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Lisman &amp; Grace (2005)；Schultz (1997)；Loewenstein (1994)；van Kesteren et al. (2012)；Deci &amp; Ryan (1985)；Kang et al. (2009)；Buckner &amp; Carroll (2007)（書誌情報は原文で確認のうえ追記する）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18872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ご清聴ありがとうございました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29260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ご質問・ご指摘をお願いします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">
  <a:themeElements>
    <a:clrScheme name="Academic">
      <a:dk1>
        <a:srgbClr val="1A1A1A"/>
      </a:dk1>
      <a:lt1>
        <a:srgbClr val="FFFFFF"/>
      </a:lt1>
      <a:dk2>
        <a:srgbClr val="1F3A5F"/>
      </a:dk2>
      <a:lt2>
        <a:srgbClr val="F2F2F2"/>
      </a:lt2>
      <a:accent1>
        <a:srgbClr val="1F3A5F"/>
      </a:accent1>
      <a:accent2>
        <a:srgbClr val="4A6FA5"/>
      </a:accent2>
      <a:accent3>
        <a:srgbClr val="7F7F7F"/>
      </a:accent3>
      <a:accent4>
        <a:srgbClr val="9C4A1A"/>
      </a:accent4>
      <a:accent5>
        <a:srgbClr val="A6A6A6"/>
      </a:accent5>
      <a:accent6>
        <a:srgbClr val="595959"/>
      </a:accent6>
      <a:hlink>
        <a:srgbClr val="1F3A5F"/>
      </a:hlink>
      <a:folHlink>
        <a:srgbClr val="595959"/>
      </a:folHlink>
    </a:clrScheme>
    <a:fontScheme name="Academic">
      <a:majorFont>
        <a:latin typeface="Yu Minch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1064</Words>
  <Application>Microsoft Office PowerPoint</Application>
  <PresentationFormat>画面に合わせる (16:9)</PresentationFormat>
  <Paragraphs>320</Paragraphs>
  <Slides>23</Slides>
  <Notes>23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6" baseType="lpstr">
      <vt:lpstr>Yu Gothic</vt:lpstr>
      <vt:lpstr>Arial</vt:lpstr>
      <vt:lpstr>Academic</vt:lpstr>
      <vt:lpstr>ローカル LLM と好奇心駆動型学習</vt:lpstr>
      <vt:lpstr>目次</vt:lpstr>
      <vt:lpstr>研究の目的</vt:lpstr>
      <vt:lpstr>知識欲の概念化</vt:lpstr>
      <vt:lpstr>知識欲を構成する 7 つの要素</vt:lpstr>
      <vt:lpstr>『欲望解剖』によるクオリアに関する検討</vt:lpstr>
      <vt:lpstr>課題と暫定的結論</vt:lpstr>
      <vt:lpstr>ローカル LLM の構築</vt:lpstr>
      <vt:lpstr>実行環境の構成</vt:lpstr>
      <vt:lpstr>推論エンジンの選定基準</vt:lpstr>
      <vt:lpstr>モデルと量子化の選定基準</vt:lpstr>
      <vt:lpstr>バッチサイズと expert 配置の計測</vt:lpstr>
      <vt:lpstr>文脈長と KV キャッシュの量子化</vt:lpstr>
      <vt:lpstr>主要な用語</vt:lpstr>
      <vt:lpstr>好奇心駆動型学習の準備</vt:lpstr>
      <vt:lpstr>研究計画</vt:lpstr>
      <vt:lpstr>好奇心に基づく内発的報酬の 2 手法</vt:lpstr>
      <vt:lpstr>知識欲の要素と 2 手法の対応（仮説）</vt:lpstr>
      <vt:lpstr>まとめと今後の課題</vt:lpstr>
      <vt:lpstr>進捗と検証状況</vt:lpstr>
      <vt:lpstr>今後の課題</vt:lpstr>
      <vt:lpstr>参考文献</vt:lpstr>
      <vt:lpstr>ご清聴ありがとうございました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ローカル LLM と好奇心駆動型学習</dc:title>
  <dc:subject>PptxGenJS Presentation</dc:subject>
  <dc:creator>PptxGenJS</dc:creator>
  <cp:lastModifiedBy>足立　遥大</cp:lastModifiedBy>
  <cp:revision>2</cp:revision>
  <dcterms:created xsi:type="dcterms:W3CDTF">2026-10-30T05:16:04Z</dcterms:created>
  <dcterms:modified xsi:type="dcterms:W3CDTF">2026-10-30T05:30:18Z</dcterms:modified>
</cp:coreProperties>
</file>